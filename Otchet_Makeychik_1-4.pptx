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047749"/>
            <a:ext cx="857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БГУ · МЕХАНИКО-МАТЕМАТИЧЕСКИЙ ФАКУЛЬТЕТ</a:t>
            </a:r>
          </a:p>
        </p:txBody>
      </p:sp>
      <p:sp>
        <p:nvSpPr>
          <p:cNvPr id="3" name="Cover accent"/>
          <p:cNvSpPr/>
          <p:nvPr/>
        </p:nvSpPr>
        <p:spPr>
          <a:xfrm>
            <a:off x="685800" y="3143250"/>
            <a:ext cx="533400" cy="47625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390900"/>
            <a:ext cx="9906000" cy="1600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950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Структуры данных на C++: 4 программы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24450"/>
            <a:ext cx="7810499" cy="7429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7D7A75"/>
                </a:solidFill>
                <a:latin typeface="Arial"/>
              </a:rPr>
              <a:t>Очереди, стеки, серверы в комнате и бинарный поиск — с ООП.
Выполнил: Макейчик Юрий · Преподаватель: Филимонов Д. В.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077200" y="6305550"/>
            <a:ext cx="34290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r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7D7A75"/>
                </a:solidFill>
                <a:latin typeface="Arial"/>
              </a:rPr>
              <a:t>Минск,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ОБЗОР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Четыре программы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1. Связные списки — задание №6
2. Стеки / очереди — задание №10
3. Деревья и графы — задание №13
4. Бинарный поиск — задание №9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Что по каждой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• Условие и что найти
• Ключевой код (ООП)
• Как работает простыми словами
• Результат работы (скрин)
• Тесты, проблемы, отладка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МЕТОДИКА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Как тестировали и чем дебажили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52650"/>
            <a:ext cx="5219700" cy="3562350"/>
          </a:xfrm>
          <a:prstGeom prst="roundRect">
            <a:avLst>
              <a:gd name="adj" fmla="val 320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86500" y="2152650"/>
            <a:ext cx="5219700" cy="3562350"/>
          </a:xfrm>
          <a:prstGeom prst="roundRect">
            <a:avLst>
              <a:gd name="adj" fmla="val 320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4900" y="2571750"/>
            <a:ext cx="381000" cy="38100"/>
          </a:xfrm>
          <a:prstGeom prst="rect">
            <a:avLst/>
          </a:prstGeom>
          <a:solidFill>
            <a:srgbClr val="7D7A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05600" y="2571750"/>
            <a:ext cx="3810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4900" y="3028950"/>
            <a:ext cx="4381500" cy="4000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>
                <a:solidFill>
                  <a:srgbClr val="2C2C2B"/>
                </a:solidFill>
                <a:latin typeface="Arial"/>
              </a:rPr>
              <a:t>Как тестировали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" y="3562350"/>
            <a:ext cx="4381500" cy="1200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• Сборка в Visual Studio 2022 (C++17).
• Обычные, крайние и пустые случаи.
• Сверяли вывод с ручным расчётом.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4381500" cy="4000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>
                <a:solidFill>
                  <a:srgbClr val="2C2C2B"/>
                </a:solidFill>
                <a:latin typeface="Arial"/>
              </a:rPr>
              <a:t>Чем дебажили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3562350"/>
            <a:ext cx="4381500" cy="1200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• Отладчик VS: точки останова, F10 / F11.
• Окно Watch — следили за указателями.
• cout в узких местах; пары new / delete.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123950"/>
            <a:ext cx="476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47950"/>
            <a:ext cx="1809750" cy="1524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9750"/>
              </a:lnSpc>
              <a:spcBef>
                <a:spcPts val="0"/>
              </a:spcBef>
              <a:spcAft>
                <a:spcPts val="0"/>
              </a:spcAft>
            </a:pPr>
            <a:r>
              <a:rPr sz="9750" b="1" i="0" u="none">
                <a:solidFill>
                  <a:srgbClr val="2783DE"/>
                </a:solidFill>
                <a:latin typeface="Arial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150" y="2857500"/>
            <a:ext cx="8191500" cy="1714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5049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Связные списки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150" y="4629150"/>
            <a:ext cx="72390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7D7A75"/>
                </a:solidFill>
                <a:latin typeface="Arial"/>
              </a:rPr>
              <a:t>Задание №6 · очередь на односвязном списке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 · УСЛОВИЕ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Условие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131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 u="none">
                <a:solidFill>
                  <a:srgbClr val="2C2C2B"/>
                </a:solidFill>
                <a:latin typeface="Arial"/>
              </a:rPr>
              <a:t>Реализовать очередь на односвязном списке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Два указателя: на начало и на конец.</a:t>
            </a:r>
          </a:p>
        </p:txBody>
      </p:sp>
      <p:sp>
        <p:nvSpPr>
          <p:cNvPr id="7" name="Section label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Односвязный список; указатели head (начало) и tail (конец).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1250" y="32385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0" name="Section label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СДЕЛАТЬ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Очередь (FIFO): вставка в конец, удаление из начала.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91250" y="42291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3" name="Section label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ДОП.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Заполнение случайными числами и вывод очереди.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 · КЛЮЧЕВОЙ КОД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C2C2B"/>
                </a:solidFill>
                <a:latin typeface="Arial"/>
              </a:rPr>
              <a:t>Вставка в конец и удаление из начала</a:t>
            </a:r>
          </a:p>
        </p:txBody>
      </p:sp>
      <p:sp>
        <p:nvSpPr>
          <p:cNvPr id="5" name="Media frame"/>
          <p:cNvSpPr/>
          <p:nvPr/>
        </p:nvSpPr>
        <p:spPr>
          <a:xfrm>
            <a:off x="685800" y="2247900"/>
            <a:ext cx="5829300" cy="3943350"/>
          </a:xfrm>
          <a:prstGeom prst="roundRect">
            <a:avLst>
              <a:gd name="adj" fmla="val 289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Media image" descr="code_spis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70" y="2247900"/>
            <a:ext cx="5276758" cy="3943350"/>
          </a:xfrm>
          <a:prstGeom prst="roundRect">
            <a:avLst>
              <a:gd name="adj" fmla="val 2898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896100" y="2286000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0449" y="226695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enqueue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0449" y="257175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Новый узел цепляем к tail и двигаем tail.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96100" y="351154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96100" y="362584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49" y="360680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dequeue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0449" y="391160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Берём из head, сдвигаем head, освобождаем память.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6100" y="485139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96100" y="496569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0449" y="4946649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49" y="5251449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Пустая очередь — head и tail равны nullptr.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spis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6467"/>
            <a:ext cx="4457700" cy="3324965"/>
          </a:xfrm>
          <a:prstGeom prst="roundRect">
            <a:avLst>
              <a:gd name="adj" fmla="val 3437"/>
            </a:avLst>
          </a:prstGeom>
        </p:spPr>
      </p:pic>
      <p:sp>
        <p:nvSpPr>
          <p:cNvPr id="4" name="Section label"/>
          <p:cNvSpPr txBox="1"/>
          <p:nvPr/>
        </p:nvSpPr>
        <p:spPr>
          <a:xfrm>
            <a:off x="6191250" y="1143000"/>
            <a:ext cx="4391025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 · РЕЗУЛЬТАТ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Результат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ООП: класс Queue с узлами односвязного списка (head / tail).
На экране: заполнили 8 случайных чисел, добавили 100 в конец, удалили один из начала — порядок FIFO сохраняется.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 · ПРОСТЫМИ СЛОВАМИ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Что делает программа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Очередь работает по правилу «первым пришёл — первым вышел» (FIFO), как очередь в магазине. Внутри — односвязный список: каждый узел знает следующего.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По шагам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1. enqueue: создаём узел и цепляем его к концу (tail).
2. dequeue: берём узел с начала (head).
3. Сдвигаем head на следующий узел.
4. Если очередь опустела — обнуляем и tail.
5. print: идём от head до конца.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1 · ТЕСТЫ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Тестирование: очередь на списке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C2C2B"/>
                </a:solidFill>
                <a:latin typeface="Arial"/>
              </a:rPr>
              <a:t>Проверены добавление, удаление и пустая очередь.</a:t>
            </a:r>
          </a:p>
        </p:txBody>
      </p:sp>
      <p:graphicFrame>
        <p:nvGraphicFramePr>
          <p:cNvPr id="6" name="Evidence table"/>
          <p:cNvGraphicFramePr>
            <a:graphicFrameLocks noGrp="1"/>
          </p:cNvGraphicFramePr>
          <p:nvPr/>
        </p:nvGraphicFramePr>
        <p:xfrm>
          <a:off x="685800" y="2667000"/>
          <a:ext cx="108204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6800"/>
                <a:gridCol w="3606800"/>
                <a:gridCol w="3606800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Действие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Ожидалось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enqueue 10, 20,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10 20 30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dequeue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ушёл 10 → 20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getFront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dequeue до пустоты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[ Очередь пуста ]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dequeue пустой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сообщение об ошибке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123950"/>
            <a:ext cx="476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47950"/>
            <a:ext cx="1809750" cy="1524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9750"/>
              </a:lnSpc>
              <a:spcBef>
                <a:spcPts val="0"/>
              </a:spcBef>
              <a:spcAft>
                <a:spcPts val="0"/>
              </a:spcAft>
            </a:pPr>
            <a:r>
              <a:rPr sz="9750" b="1" i="0" u="none">
                <a:solidFill>
                  <a:srgbClr val="2783DE"/>
                </a:solidFill>
                <a:latin typeface="Arial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150" y="2857500"/>
            <a:ext cx="8191500" cy="1714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5049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Стеки и очереди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150" y="4629150"/>
            <a:ext cx="72390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7D7A75"/>
                </a:solidFill>
                <a:latin typeface="Arial"/>
              </a:rPr>
              <a:t>Задание №10 · очередь на базе стека</a:t>
            </a:r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 · УСЛОВИЕ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Условие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131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 u="none">
                <a:solidFill>
                  <a:srgbClr val="2C2C2B"/>
                </a:solidFill>
                <a:latin typeface="Arial"/>
              </a:rPr>
              <a:t>Построить очередь на основе стека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Реализация на двух стеках: вход и выход.</a:t>
            </a:r>
          </a:p>
        </p:txBody>
      </p:sp>
      <p:sp>
        <p:nvSpPr>
          <p:cNvPr id="7" name="Section label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Своя структура «Стек» (LIFO) на односвязном списке.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1250" y="32385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0" name="Section label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СДЕЛАТЬ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На её базе — «Очередь» (FIFO): enqueue, dequeue, front.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91250" y="42291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3" name="Section label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ИДЕЯ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Второй стек переворачивает порядок → получается FIFO.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 · КЛЮЧЕВОЙ КОД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C2C2B"/>
                </a:solidFill>
                <a:latin typeface="Arial"/>
              </a:rPr>
              <a:t>Два стека: вход и выход</a:t>
            </a:r>
          </a:p>
        </p:txBody>
      </p:sp>
      <p:sp>
        <p:nvSpPr>
          <p:cNvPr id="5" name="Media frame"/>
          <p:cNvSpPr/>
          <p:nvPr/>
        </p:nvSpPr>
        <p:spPr>
          <a:xfrm>
            <a:off x="685800" y="2247900"/>
            <a:ext cx="5829300" cy="3943350"/>
          </a:xfrm>
          <a:prstGeom prst="roundRect">
            <a:avLst>
              <a:gd name="adj" fmla="val 289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Media image" descr="code_st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55" y="2247900"/>
            <a:ext cx="5785789" cy="3943350"/>
          </a:xfrm>
          <a:prstGeom prst="roundRect">
            <a:avLst>
              <a:gd name="adj" fmla="val 2898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896100" y="2286000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0449" y="226695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enqueue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0449" y="257175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Кладём в inStack_ — всегда O(1).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96100" y="351154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96100" y="362584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49" y="360680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transferIfNeeded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0449" y="391160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Переливаем в outStack_, только если он пуст.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6100" y="485139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96100" y="496569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0449" y="4946649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dequeue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49" y="5251449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Берём с верхушки outStack_ — амортизированно O(1).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st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58363"/>
            <a:ext cx="4457700" cy="2141172"/>
          </a:xfrm>
          <a:prstGeom prst="roundRect">
            <a:avLst>
              <a:gd name="adj" fmla="val 5338"/>
            </a:avLst>
          </a:prstGeom>
        </p:spPr>
      </p:pic>
      <p:sp>
        <p:nvSpPr>
          <p:cNvPr id="4" name="Section label"/>
          <p:cNvSpPr txBox="1"/>
          <p:nvPr/>
        </p:nvSpPr>
        <p:spPr>
          <a:xfrm>
            <a:off x="6191250" y="1143000"/>
            <a:ext cx="4391025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 · РЕЗУЛЬТАТ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Результат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ООП: класс Stack (свой стек) и QueueOnStacks на двух стеках.
На экране: добавили 10, 20, 30; первый элемент = 10; после dequeue ушёл именно 10 — очередь работает как FIFO.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 · ПРОСТЫМИ СЛОВАМИ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Что делает программа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Стек — это стопка: кладём наверх и берём сверху (LIFO). Нужно из двух стеков собрать очередь (FIFO). Один стек — «вход», другой — «выход».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По шагам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1. enqueue: просто кладём в стек «вход».
2. Если «выход» пуст — переливаем всё из «входа».
3. При переливании порядок переворачивается → FIFO.
4. dequeue / front: берём верхний из «выхода».
5. Переливаем редко — в среднем быстро.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2 · ТЕСТЫ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Тестирование: очередь на стеках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C2C2B"/>
                </a:solidFill>
                <a:latin typeface="Arial"/>
              </a:rPr>
              <a:t>Проверены порядок FIFO и реакция на пустую очередь.</a:t>
            </a:r>
          </a:p>
        </p:txBody>
      </p:sp>
      <p:graphicFrame>
        <p:nvGraphicFramePr>
          <p:cNvPr id="6" name="Evidence table"/>
          <p:cNvGraphicFramePr>
            <a:graphicFrameLocks noGrp="1"/>
          </p:cNvGraphicFramePr>
          <p:nvPr/>
        </p:nvGraphicFramePr>
        <p:xfrm>
          <a:off x="685800" y="2667000"/>
          <a:ext cx="108204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6800"/>
                <a:gridCol w="3606800"/>
                <a:gridCol w="3606800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Действие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Ожидалось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enqueue 10, 20,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10 20 30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front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dequeue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10 → осталось 20 30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dequeue из пустой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исключение поймано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порядок FIFO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сохраняется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OK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123950"/>
            <a:ext cx="476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47950"/>
            <a:ext cx="1809750" cy="1524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9750"/>
              </a:lnSpc>
              <a:spcBef>
                <a:spcPts val="0"/>
              </a:spcBef>
              <a:spcAft>
                <a:spcPts val="0"/>
              </a:spcAft>
            </a:pPr>
            <a:r>
              <a:rPr sz="9750" b="1" i="0" u="none">
                <a:solidFill>
                  <a:srgbClr val="2783DE"/>
                </a:solidFill>
                <a:latin typeface="Arial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150" y="2857500"/>
            <a:ext cx="8191500" cy="1714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5049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Деревья и графы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150" y="4629150"/>
            <a:ext cx="72390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7D7A75"/>
                </a:solidFill>
                <a:latin typeface="Arial"/>
              </a:rPr>
              <a:t>Задание №13 · серверы в комнате</a:t>
            </a:r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 · УСЛОВИЕ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Условие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131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 u="none">
                <a:solidFill>
                  <a:srgbClr val="2C2C2B"/>
                </a:solidFill>
                <a:latin typeface="Arial"/>
              </a:rPr>
              <a:t>Соединённые и изолированные серверы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Комната N×M, серверов N+M−2.</a:t>
            </a:r>
          </a:p>
        </p:txBody>
      </p:sp>
      <p:sp>
        <p:nvSpPr>
          <p:cNvPr id="7" name="Section label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Комната N×M с серверами.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1250" y="32385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0" name="Section label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ПРАВИЛО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Соединены, если в одной строке или столбце.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91250" y="42291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3" name="Section label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НАЙТИ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Сколько соединены и сколько изолированы.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 · КЛЮЧЕВОЙ КОД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C2C2B"/>
                </a:solidFill>
                <a:latin typeface="Arial"/>
              </a:rPr>
              <a:t>Анализ сети по строкам и столбцам</a:t>
            </a:r>
          </a:p>
        </p:txBody>
      </p:sp>
      <p:sp>
        <p:nvSpPr>
          <p:cNvPr id="5" name="Media frame"/>
          <p:cNvSpPr/>
          <p:nvPr/>
        </p:nvSpPr>
        <p:spPr>
          <a:xfrm>
            <a:off x="685800" y="2247900"/>
            <a:ext cx="5829300" cy="3943350"/>
          </a:xfrm>
          <a:prstGeom prst="roundRect">
            <a:avLst>
              <a:gd name="adj" fmla="val 289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Media image" descr="code_derev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2934"/>
            <a:ext cx="5829300" cy="3433281"/>
          </a:xfrm>
          <a:prstGeom prst="roundRect">
            <a:avLst>
              <a:gd name="adj" fmla="val 3329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896100" y="2286000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0449" y="226695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Подсчёт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0449" y="257175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Считаем серверы по строкам и столбцам.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96100" y="351154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96100" y="362584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49" y="360680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Проверка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0449" y="391160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Есть сосед в строке или столбце → соединён.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6100" y="485139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96100" y="496569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0449" y="4946649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Иначе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49" y="5251449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Сервер считается изолированным.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derev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13610"/>
            <a:ext cx="4457700" cy="3630679"/>
          </a:xfrm>
          <a:prstGeom prst="roundRect">
            <a:avLst>
              <a:gd name="adj" fmla="val 3148"/>
            </a:avLst>
          </a:prstGeom>
        </p:spPr>
      </p:pic>
      <p:sp>
        <p:nvSpPr>
          <p:cNvPr id="4" name="Section label"/>
          <p:cNvSpPr txBox="1"/>
          <p:nvPr/>
        </p:nvSpPr>
        <p:spPr>
          <a:xfrm>
            <a:off x="6191250" y="1143000"/>
            <a:ext cx="4391025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 · РЕЗУЛЬТАТ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Результат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ООП: класс ServerRoom хранит матрицу комнаты (vector&lt;vector&lt;int&gt;&gt;).
На экране: комната 4×4, 6 серверов (N+M−2). Анализ: 5 соединённых и 1 изолированный.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 · ПРОСТЫМИ СЛОВАМИ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Что делает программа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Комната — это таблица N×M. По условию серверов ровно N+M−2. Два сервера «соединены», если сто��т в одной строке или одном столбце.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По шагам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1. Считаем, сколько серверов в каждой строке и столбце.
2. Для каждого сервера смотрим его строку и столбец.
3. Есть ещё кто-то — сервер соединён.
4. Нет — изолирован.
5. Выводим два числа.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3 · ТЕСТЫ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Тестирование: серверы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C2C2B"/>
                </a:solidFill>
                <a:latin typeface="Arial"/>
              </a:rPr>
              <a:t>Число серверов всегда N+M−2; анализ совпадает с ручным.</a:t>
            </a:r>
          </a:p>
        </p:txBody>
      </p:sp>
      <p:graphicFrame>
        <p:nvGraphicFramePr>
          <p:cNvPr id="6" name="Evidence table"/>
          <p:cNvGraphicFramePr>
            <a:graphicFrameLocks noGrp="1"/>
          </p:cNvGraphicFramePr>
          <p:nvPr/>
        </p:nvGraphicFramePr>
        <p:xfrm>
          <a:off x="685800" y="2667000"/>
          <a:ext cx="108204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5100"/>
                <a:gridCol w="2705100"/>
                <a:gridCol w="2705100"/>
                <a:gridCol w="27051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Комната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Серверов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Соединено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Изолировано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2×2 (диагональ)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3×3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4×4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5×5 (парами)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1123950"/>
            <a:ext cx="4762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47950"/>
            <a:ext cx="1809750" cy="1524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9750"/>
              </a:lnSpc>
              <a:spcBef>
                <a:spcPts val="0"/>
              </a:spcBef>
              <a:spcAft>
                <a:spcPts val="0"/>
              </a:spcAft>
            </a:pPr>
            <a:r>
              <a:rPr sz="9750" b="1" i="0" u="none">
                <a:solidFill>
                  <a:srgbClr val="2783DE"/>
                </a:solidFill>
                <a:latin typeface="Arial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150" y="2857500"/>
            <a:ext cx="8191500" cy="1714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5049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>
                <a:solidFill>
                  <a:srgbClr val="2C2C2B"/>
                </a:solidFill>
                <a:latin typeface="Arial"/>
              </a:rPr>
              <a:t>Бинарный поиск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150" y="4629150"/>
            <a:ext cx="72390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7D7A75"/>
                </a:solidFill>
                <a:latin typeface="Arial"/>
              </a:rPr>
              <a:t>Задание №9 · проверка генератора случайных чисел</a:t>
            </a:r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 · УСЛОВИЕ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Условие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4131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 u="none">
                <a:solidFill>
                  <a:srgbClr val="2C2C2B"/>
                </a:solidFill>
                <a:latin typeface="Arial"/>
              </a:rPr>
              <a:t>Проверить качество генератора чисел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7D7A75"/>
                </a:solidFill>
                <a:latin typeface="Arial"/>
              </a:rPr>
              <a:t>Скопление чисел ищем бинарным поиском.</a:t>
            </a:r>
          </a:p>
        </p:txBody>
      </p:sp>
      <p:sp>
        <p:nvSpPr>
          <p:cNvPr id="7" name="Section label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Массив из N чисел и параметры X, Y.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1250" y="32385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0" name="Section label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ПРАВИЛО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Если в интервале шириной 2·Y ≥ X чисел — генератор плохой.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91250" y="4229100"/>
            <a:ext cx="53149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3" name="Section label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 u="none">
                <a:solidFill>
                  <a:srgbClr val="2783DE"/>
                </a:solidFill>
                <a:latin typeface="Arial"/>
              </a:rPr>
              <a:t>МЕТОД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</a:pPr>
            <a:r>
              <a:rPr sz="1575" b="1" i="0" u="none">
                <a:solidFill>
                  <a:srgbClr val="2C2C2B"/>
                </a:solidFill>
                <a:latin typeface="Arial"/>
              </a:rPr>
              <a:t>Бинарный поиск верхней границы окна, O(n·log n).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 · КЛЮЧЕВОЙ КОД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C2C2B"/>
                </a:solidFill>
                <a:latin typeface="Arial"/>
              </a:rPr>
              <a:t>Окно шириной 2·Y и бинарный поиск</a:t>
            </a:r>
          </a:p>
        </p:txBody>
      </p:sp>
      <p:sp>
        <p:nvSpPr>
          <p:cNvPr id="5" name="Media frame"/>
          <p:cNvSpPr/>
          <p:nvPr/>
        </p:nvSpPr>
        <p:spPr>
          <a:xfrm>
            <a:off x="685800" y="2247900"/>
            <a:ext cx="5829300" cy="3943350"/>
          </a:xfrm>
          <a:prstGeom prst="roundRect">
            <a:avLst>
              <a:gd name="adj" fmla="val 2898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Media image" descr="code_po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76475"/>
            <a:ext cx="5829300" cy="3886200"/>
          </a:xfrm>
          <a:prstGeom prst="roundRect">
            <a:avLst>
              <a:gd name="adj" fmla="val 2941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896100" y="2286000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0449" y="226695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Границы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0449" y="257175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Бинарный поиск правого края окна.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96100" y="351154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96100" y="362584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49" y="360680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Окно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10449" y="3911600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Ширина 2·Y от текущего числа.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6100" y="4851399"/>
            <a:ext cx="46101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96100" y="4965699"/>
            <a:ext cx="4381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913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0449" y="4946649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C2C2B"/>
                </a:solidFill>
                <a:latin typeface="Arial"/>
              </a:rPr>
              <a:t>Вывод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49" y="5251449"/>
            <a:ext cx="4095750" cy="8445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7D7A75"/>
                </a:solidFill>
                <a:latin typeface="Arial"/>
              </a:rPr>
              <a:t>В окне ≥ X чисел → нужна дор��ботка.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dia frame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name="adj" fmla="val 3030"/>
            </a:avLst>
          </a:prstGeom>
          <a:solidFill>
            <a:srgbClr val="F9F8F7"/>
          </a:solidFill>
          <a:ln w="9525">
            <a:solidFill>
              <a:srgbClr val="E6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ory image" descr="po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43784"/>
            <a:ext cx="4457700" cy="2570330"/>
          </a:xfrm>
          <a:prstGeom prst="roundRect">
            <a:avLst>
              <a:gd name="adj" fmla="val 4446"/>
            </a:avLst>
          </a:prstGeom>
        </p:spPr>
      </p:pic>
      <p:sp>
        <p:nvSpPr>
          <p:cNvPr id="4" name="Section label"/>
          <p:cNvSpPr txBox="1"/>
          <p:nvPr/>
        </p:nvSpPr>
        <p:spPr>
          <a:xfrm>
            <a:off x="6191250" y="1143000"/>
            <a:ext cx="4391025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 · РЕЗУЛЬТАТ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Результат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ООП: класс RandomChecker хранит массив и метод бинарного поиска.
На экране: массив 1 2 3 4 5 50 60 70 80 90, X=3, Y=5 → найдено скопление [1; 11] из 5 чисел, генератор нуждается в доработке.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 · ПРОСТЫМИ СЛОВАМИ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Что делает программа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Есть массив случайных чисел. Если в узком интервале ширины 2·Y скучилось слишком много чисел (не меньше X) — генератор плохой. Проверяем быстро бинарным поиском.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По шагам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1. Сортируем массив по возрастанию.
2. Для каждого числа берём окно [число; число + 2·Y].
3. Бинарным поиском считаем числа в окне.
4. Где-то ≥ X → нужна доработка.
5. Нигде не набралось → генератор хороший.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ЗАДАНИЕ 4 · ТЕСТЫ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Тестирование: бинарный поиск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2C2C2B"/>
                </a:solidFill>
                <a:latin typeface="Arial"/>
              </a:rPr>
              <a:t>Скопления ловятся верно; равномерные массивы — норма.</a:t>
            </a:r>
          </a:p>
        </p:txBody>
      </p:sp>
      <p:graphicFrame>
        <p:nvGraphicFramePr>
          <p:cNvPr id="6" name="Evidence table"/>
          <p:cNvGraphicFramePr>
            <a:graphicFrameLocks noGrp="1"/>
          </p:cNvGraphicFramePr>
          <p:nvPr/>
        </p:nvGraphicFramePr>
        <p:xfrm>
          <a:off x="685800" y="2667000"/>
          <a:ext cx="108204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5100"/>
                <a:gridCol w="2705100"/>
                <a:gridCol w="2705100"/>
                <a:gridCol w="27051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Массив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X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Y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 u="none">
                          <a:solidFill>
                            <a:srgbClr val="6B6862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4288">
                      <a:solidFill>
                        <a:srgbClr val="2C2C2B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1 2 3 4 5 50 60 70 80 90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нужна доработка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1 2 3 4 5 50 60 70 80 90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10 20 30 40 50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C2C2B"/>
                          </a:solidFill>
                          <a:latin typeface="Arial"/>
                        </a:rPr>
                        <a:t>5 5 5 5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C2C2B"/>
                          </a:solidFill>
                          <a:latin typeface="Arial"/>
                        </a:rPr>
                        <a:t>нужна доработка</a:t>
                      </a:r>
                    </a:p>
                  </a:txBody>
                  <a:tcPr marT="95250" marR="57150" marB="95250" marL="57150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7144">
                      <a:solidFill>
                        <a:srgbClr val="E6E5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ПРОБЛЕМЫ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276"/>
              </a:lnSpc>
              <a:spcBef>
                <a:spcPts val="0"/>
              </a:spcBef>
              <a:spcAft>
                <a:spcPts val="0"/>
              </a:spcAft>
            </a:pPr>
            <a:r>
              <a:rPr sz="3150" b="1" i="0" u="none">
                <a:solidFill>
                  <a:srgbClr val="2C2C2B"/>
                </a:solidFill>
                <a:latin typeface="Arial"/>
              </a:rPr>
              <a:t>С чем были проблемы и как решили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Проблемы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• Списки: при опустошении не обнулялся tail.
• Стеки: путался порядок при переливании.
• Серверы: сервер считался дважды.
• Поиск: съезжали границы окна.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 u="none">
                <a:solidFill>
                  <a:srgbClr val="2C2C2B"/>
                </a:solidFill>
                <a:latin typeface="Arial"/>
              </a:rPr>
              <a:t>Как решили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91250" y="2781300"/>
            <a:ext cx="508635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 u="none">
                <a:solidFill>
                  <a:srgbClr val="7D7A75"/>
                </a:solidFill>
                <a:latin typeface="Arial"/>
              </a:rPr>
              <a:t>• В dequeue обнуляем tail, когда head == nullptr.
• Переливаем в outStack только когда он пуст.
• Считаем каждый сервер один раз.
• Правый край окна = число + 2·Y.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3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7D7A75"/>
                </a:solidFill>
                <a:latin typeface="Arial"/>
              </a:rPr>
              <a:t>ИТОГИ</a:t>
            </a:r>
          </a:p>
        </p:txBody>
      </p:sp>
      <p:sp>
        <p:nvSpPr>
          <p:cNvPr id="3" name="Title accent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78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u="none">
                <a:solidFill>
                  <a:srgbClr val="2C2C2B"/>
                </a:solidFill>
                <a:latin typeface="Arial"/>
              </a:rPr>
              <a:t>Итоги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431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241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1" i="0" u="none">
                <a:solidFill>
                  <a:srgbClr val="2C2C2B"/>
                </a:solidFill>
                <a:latin typeface="Arial"/>
              </a:rPr>
              <a:t>Все четыре программы работают и протестированы на разных данных.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3238500"/>
            <a:ext cx="108204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85800" y="35433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5242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u="none">
                <a:solidFill>
                  <a:srgbClr val="2C2C2B"/>
                </a:solidFill>
                <a:latin typeface="Arial"/>
              </a:rPr>
              <a:t>Под каждую структуру данных — свой класс (ООП).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438650"/>
            <a:ext cx="10820400" cy="0"/>
          </a:xfrm>
          <a:prstGeom prst="line">
            <a:avLst/>
          </a:prstGeom>
          <a:ln w="9525">
            <a:solidFill>
              <a:srgbClr val="E6E5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5800" y="47434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3305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 u="none">
                <a:solidFill>
                  <a:srgbClr val="2783D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244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u="none">
                <a:solidFill>
                  <a:srgbClr val="2C2C2B"/>
                </a:solidFill>
                <a:latin typeface="Arial"/>
              </a:rPr>
              <a:t>Код собирается в Visual Studio 2022 (стандарт C++17).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Notion Artifact Export</Application>
  <PresentationFormat>On-screen Show (16:9)</PresentationFormat>
  <Paragraphs>0</Paragraphs>
  <Slides>29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  <DocSecurity>0</DocSecurit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Otchet Makeychik 1-4</dc:title>
  <dc:subject/>
  <dc:creator>Notion AI</dc:creator>
  <cp:keywords/>
  <dc:description>generated using python-pptx</dc:description>
  <cp:lastModifiedBy>Notion AI</cp:lastModifiedBy>
  <cp:revision>1</cp:revision>
  <dcterms:created xsi:type="dcterms:W3CDTF">2026-07-05T18:44:28Z</dcterms:created>
  <dcterms:modified xsi:type="dcterms:W3CDTF">2026-07-05T18:44:28Z</dcterms:modified>
  <cp:category/>
</cp:coreProperties>
</file>