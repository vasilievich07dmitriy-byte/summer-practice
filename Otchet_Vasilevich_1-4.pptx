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1047749"/>
            <a:ext cx="8572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БГУ · МЕХАНИКО-МАТЕМАТИЧЕСКИЙ ФАКУЛЬТЕТ</a:t>
            </a:r>
          </a:p>
        </p:txBody>
      </p:sp>
      <p:sp>
        <p:nvSpPr>
          <p:cNvPr id="3" name="Cover accent"/>
          <p:cNvSpPr/>
          <p:nvPr/>
        </p:nvSpPr>
        <p:spPr>
          <a:xfrm>
            <a:off x="685800" y="3143250"/>
            <a:ext cx="533400" cy="47625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390900"/>
            <a:ext cx="9906000" cy="1600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950"/>
              </a:lnSpc>
              <a:spcBef>
                <a:spcPts val="0"/>
              </a:spcBef>
              <a:spcAft>
                <a:spcPts val="0"/>
              </a:spcAft>
            </a:pPr>
            <a:r>
              <a:rPr sz="4950" b="1" i="0" u="none">
                <a:solidFill>
                  <a:srgbClr val="2C2C2B"/>
                </a:solidFill>
                <a:latin typeface="Arial"/>
              </a:rPr>
              <a:t>Отчёт: структуры данных на C++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124450"/>
            <a:ext cx="7810499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7D7A75"/>
                </a:solidFill>
                <a:latin typeface="Arial"/>
              </a:rPr>
              <a:t>Списки, стеки, деревья, бинарный поиск — 4 программы с ООП.
Выполнил: Василевич Дмитрий · Преподаватель: Филимонов Д. В.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77200" y="630555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r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7D7A75"/>
                </a:solidFill>
                <a:latin typeface="Arial"/>
              </a:rPr>
              <a:t>Минск,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ОБЗОР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Содержание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Четыре программы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1. Связные списки — №9
2. Стеки — №8
3. Бинарные деревья — №4
4. Бинарный поиск — №6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Что по каждой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9125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• Условие и что найти
• Ключевой код (ООП)
• Как это работает простыми словами
• Результат работы (скрин)
• Тесты, проблемы, отладка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МЕТОДИКА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Как тестировали и чем дебажили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52650"/>
            <a:ext cx="5219700" cy="3562350"/>
          </a:xfrm>
          <a:prstGeom prst="roundRect">
            <a:avLst>
              <a:gd name="adj" fmla="val 320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86500" y="2152650"/>
            <a:ext cx="5219700" cy="3562350"/>
          </a:xfrm>
          <a:prstGeom prst="roundRect">
            <a:avLst>
              <a:gd name="adj" fmla="val 320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4900" y="2571750"/>
            <a:ext cx="381000" cy="38100"/>
          </a:xfrm>
          <a:prstGeom prst="rect">
            <a:avLst/>
          </a:prstGeom>
          <a:solidFill>
            <a:srgbClr val="7D7A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05600" y="2571750"/>
            <a:ext cx="3810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4900" y="302895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2C2C2B"/>
                </a:solidFill>
                <a:latin typeface="Arial"/>
              </a:rPr>
              <a:t>Как тестировали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3562350"/>
            <a:ext cx="43815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>• Собирали в Visual Studio 2022 (C++17).
• Тесты: обычные, крайние, пустые случаи.
• Сверяли вывод с ручным расчётом.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02895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2C2C2B"/>
                </a:solidFill>
                <a:latin typeface="Arial"/>
              </a:rPr>
              <a:t>Чем дебажили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562350"/>
            <a:ext cx="43815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>• Отладчик VS: точки останова, F10 / F11.
• Окно Watch — следили за указателями.
• cout в узких местах; пары new / delete.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1123950"/>
            <a:ext cx="4762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647950"/>
            <a:ext cx="18097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9750"/>
              </a:lnSpc>
              <a:spcBef>
                <a:spcPts val="0"/>
              </a:spcBef>
              <a:spcAft>
                <a:spcPts val="0"/>
              </a:spcAft>
            </a:pPr>
            <a:r>
              <a:rPr sz="975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24150" y="2857500"/>
            <a:ext cx="8191500" cy="1714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049"/>
              </a:lnSpc>
              <a:spcBef>
                <a:spcPts val="0"/>
              </a:spcBef>
              <a:spcAft>
                <a:spcPts val="0"/>
              </a:spcAft>
            </a:pPr>
            <a:r>
              <a:rPr sz="4950" b="1" i="0" u="none">
                <a:solidFill>
                  <a:srgbClr val="2C2C2B"/>
                </a:solidFill>
                <a:latin typeface="Arial"/>
              </a:rPr>
              <a:t>Связные списки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24150" y="4629150"/>
            <a:ext cx="7239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7D7A75"/>
                </a:solidFill>
                <a:latin typeface="Arial"/>
              </a:rPr>
              <a:t>Вариант №9 · пары узлов двусвязного списка с суммой k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1 · УСЛОВИЕ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Условие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81250"/>
            <a:ext cx="4953000" cy="1809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131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2C2C2B"/>
                </a:solidFill>
                <a:latin typeface="Arial"/>
              </a:rPr>
              <a:t>Найти все пары чисел списка с суммой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053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>Двусвязный список; элементы идут по неубыванию.</a:t>
            </a:r>
          </a:p>
        </p:txBody>
      </p:sp>
      <p:sp>
        <p:nvSpPr>
          <p:cNvPr id="7" name="Section label"/>
          <p:cNvSpPr txBox="1"/>
          <p:nvPr/>
        </p:nvSpPr>
        <p:spPr>
          <a:xfrm>
            <a:off x="6191250" y="23812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ДАНО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26289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Двусвязный список случайных чисел, отсортированных по неубыванию.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1250" y="32385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0" name="Section label"/>
          <p:cNvSpPr txBox="1"/>
          <p:nvPr/>
        </p:nvSpPr>
        <p:spPr>
          <a:xfrm>
            <a:off x="6191250" y="33718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НАЙТИ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36195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Все пары узлов, сумма значений которых равна введённому числу k.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91250" y="42291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3" name="Section label"/>
          <p:cNvSpPr txBox="1"/>
          <p:nvPr/>
        </p:nvSpPr>
        <p:spPr>
          <a:xfrm>
            <a:off x="6191250" y="43624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ПРИМЕР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46101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Список 1–2–4–5–6–8–9, k = 7 → пары 1+6 и 2+5.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1 · КЛЮЧЕВОЙ КОД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C2C2B"/>
                </a:solidFill>
                <a:latin typeface="Arial"/>
              </a:rPr>
              <a:t>Метод двух указателей</a:t>
            </a:r>
          </a:p>
        </p:txBody>
      </p:sp>
      <p:sp>
        <p:nvSpPr>
          <p:cNvPr id="5" name="Media frame"/>
          <p:cNvSpPr/>
          <p:nvPr/>
        </p:nvSpPr>
        <p:spPr>
          <a:xfrm>
            <a:off x="685800" y="2247900"/>
            <a:ext cx="5829300" cy="3943350"/>
          </a:xfrm>
          <a:prstGeom prst="roundRect">
            <a:avLst>
              <a:gd name="adj" fmla="val 289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Media image" descr="code_spis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933" y="2247900"/>
            <a:ext cx="4301033" cy="3943350"/>
          </a:xfrm>
          <a:prstGeom prst="roundRect">
            <a:avLst>
              <a:gd name="adj" fmla="val 2898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6896100" y="2286000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0449" y="226695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Два указателя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0449" y="257175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left идёт с начала, right — с конца списка.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96100" y="351154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96100" y="362584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10449" y="360680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Сравнение с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0449" y="391160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Сумма = k → печатаем пару; меньше → left вправо; больше → right влево.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96100" y="485139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896100" y="496569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10449" y="4946649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Сложность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0449" y="5251449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Один проход по списку, O(n).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dia frame"/>
          <p:cNvSpPr/>
          <p:nvPr/>
        </p:nvSpPr>
        <p:spPr>
          <a:xfrm>
            <a:off x="685800" y="1143000"/>
            <a:ext cx="4457700" cy="3771900"/>
          </a:xfrm>
          <a:prstGeom prst="roundRect">
            <a:avLst>
              <a:gd name="adj" fmla="val 3030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ory image" descr="spis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29643"/>
            <a:ext cx="4457700" cy="2598613"/>
          </a:xfrm>
          <a:prstGeom prst="roundRect">
            <a:avLst>
              <a:gd name="adj" fmla="val 4398"/>
            </a:avLst>
          </a:prstGeom>
        </p:spPr>
      </p:pic>
      <p:sp>
        <p:nvSpPr>
          <p:cNvPr id="4" name="Section label"/>
          <p:cNvSpPr txBox="1"/>
          <p:nvPr/>
        </p:nvSpPr>
        <p:spPr>
          <a:xfrm>
            <a:off x="6191250" y="1143000"/>
            <a:ext cx="4391025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1 · РЕЗУЛЬТАТ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1250" y="144780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0" y="1619250"/>
            <a:ext cx="4476750" cy="1181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Результат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0" y="3009900"/>
            <a:ext cx="4476750" cy="2000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ООП: класс DoublyList с узлами prev / next.
На экране: список 1–2–5–6–7–10–11, k = 7 → пары 1+6 и 2+5. Совпадает с ручной проверкой.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1 · ПРОСТЫМИ СЛОВАМИ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Что делает программа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Есть список чисел, где каждое число знает соседа слева и справа (двусвязный список). Числа стоят по возрастанию. Вводим число k и ищем все пары чисел, которые в сумме дают 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По шагам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9125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1. left ставим на первое число, right — на последнее.
2. Складываем их: равно k — пара найдена, двигаем оба внутрь.
3. Сумма меньше k — сдвигаем left вправо.
4. Больше — сдвигаем right влево.
5. Идём, пока указатели не встретятся.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1 · ТЕСТЫ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Тестирование: списки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C2C2B"/>
                </a:solidFill>
                <a:latin typeface="Arial"/>
              </a:rPr>
              <a:t>Проверка на обычных, крайних и «пустых» случаях — все прошли.</a:t>
            </a:r>
          </a:p>
        </p:txBody>
      </p:sp>
      <p:graphicFrame>
        <p:nvGraphicFramePr>
          <p:cNvPr id="6" name="Evidence table"/>
          <p:cNvGraphicFramePr>
            <a:graphicFrameLocks noGrp="1"/>
          </p:cNvGraphicFramePr>
          <p:nvPr/>
        </p:nvGraphicFramePr>
        <p:xfrm>
          <a:off x="685800" y="2667000"/>
          <a:ext cx="108204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5100"/>
                <a:gridCol w="2705100"/>
                <a:gridCol w="2705100"/>
                <a:gridCol w="270510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Список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Ожидалось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Результат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1 2 5 6 7 10 11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1+6, 2+5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1 2 4 5 6 8 9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1+6, 2+5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0 1 4 5 7 9 12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0+7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2 3 4 5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нет пар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Net takih par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1123950"/>
            <a:ext cx="4762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647950"/>
            <a:ext cx="18097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9750"/>
              </a:lnSpc>
              <a:spcBef>
                <a:spcPts val="0"/>
              </a:spcBef>
              <a:spcAft>
                <a:spcPts val="0"/>
              </a:spcAft>
            </a:pPr>
            <a:r>
              <a:rPr sz="97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24150" y="2857500"/>
            <a:ext cx="8191500" cy="1714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049"/>
              </a:lnSpc>
              <a:spcBef>
                <a:spcPts val="0"/>
              </a:spcBef>
              <a:spcAft>
                <a:spcPts val="0"/>
              </a:spcAft>
            </a:pPr>
            <a:r>
              <a:rPr sz="4950" b="1" i="0" u="none">
                <a:solidFill>
                  <a:srgbClr val="2C2C2B"/>
                </a:solidFill>
                <a:latin typeface="Arial"/>
              </a:rPr>
              <a:t>Стеки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24150" y="4629150"/>
            <a:ext cx="7239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7D7A75"/>
                </a:solidFill>
                <a:latin typeface="Arial"/>
              </a:rPr>
              <a:t>Вариант №8 · история браузера на своём стеке</a:t>
            </a:r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2 · УСЛОВИЕ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Условие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81250"/>
            <a:ext cx="4953000" cy="1809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131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2C2C2B"/>
                </a:solidFill>
                <a:latin typeface="Arial"/>
              </a:rPr>
              <a:t>Смоделировать историю браузера на своём стеке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053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>Стек реализуется вручную, без готовых контейнеров.</a:t>
            </a:r>
          </a:p>
        </p:txBody>
      </p:sp>
      <p:sp>
        <p:nvSpPr>
          <p:cNvPr id="7" name="Section label"/>
          <p:cNvSpPr txBox="1"/>
          <p:nvPr/>
        </p:nvSpPr>
        <p:spPr>
          <a:xfrm>
            <a:off x="6191250" y="23812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ДАНО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26289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Нужно самостоятельно реализовать структуру «стек» (LIFO).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1250" y="32385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0" name="Section label"/>
          <p:cNvSpPr txBox="1"/>
          <p:nvPr/>
        </p:nvSpPr>
        <p:spPr>
          <a:xfrm>
            <a:off x="6191250" y="33718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СДЕЛАТЬ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36195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История браузера: Visit(адрес), Backward(k), Forward(k). Старт — Homepage.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91250" y="42291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3" name="Section label"/>
          <p:cNvSpPr txBox="1"/>
          <p:nvPr/>
        </p:nvSpPr>
        <p:spPr>
          <a:xfrm>
            <a:off x="6191250" y="43624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ПРАВИЛО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46101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Новый переход Visit удаляет все страницы «вперёд».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2 · КЛЮЧЕВОЙ КОД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C2C2B"/>
                </a:solidFill>
                <a:latin typeface="Arial"/>
              </a:rPr>
              <a:t>Два стека: назад и вперёд</a:t>
            </a:r>
          </a:p>
        </p:txBody>
      </p:sp>
      <p:sp>
        <p:nvSpPr>
          <p:cNvPr id="5" name="Media frame"/>
          <p:cNvSpPr/>
          <p:nvPr/>
        </p:nvSpPr>
        <p:spPr>
          <a:xfrm>
            <a:off x="685800" y="2247900"/>
            <a:ext cx="5829300" cy="3943350"/>
          </a:xfrm>
          <a:prstGeom prst="roundRect">
            <a:avLst>
              <a:gd name="adj" fmla="val 289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Media image" descr="code_ste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454" y="2247900"/>
            <a:ext cx="3917990" cy="3943350"/>
          </a:xfrm>
          <a:prstGeom prst="roundRect">
            <a:avLst>
              <a:gd name="adj" fmla="val 2917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6896100" y="2286000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0449" y="226695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visit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0449" y="257175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Кладёт текущую страницу в стек «назад» и очищает «вперёд».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96100" y="351154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96100" y="362584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10449" y="360680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backward / forward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0449" y="391160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Перекладывают страницы между двумя стеками по шагам.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96100" y="485139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896100" y="496569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10449" y="4946649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Свой стек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0449" y="5251449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Всё построено на StringStack — стек написан вручную.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dia frame"/>
          <p:cNvSpPr/>
          <p:nvPr/>
        </p:nvSpPr>
        <p:spPr>
          <a:xfrm>
            <a:off x="685800" y="1143000"/>
            <a:ext cx="4457700" cy="3771900"/>
          </a:xfrm>
          <a:prstGeom prst="roundRect">
            <a:avLst>
              <a:gd name="adj" fmla="val 3030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ory image" descr="ste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63869"/>
            <a:ext cx="4457700" cy="2330161"/>
          </a:xfrm>
          <a:prstGeom prst="roundRect">
            <a:avLst>
              <a:gd name="adj" fmla="val 4905"/>
            </a:avLst>
          </a:prstGeom>
        </p:spPr>
      </p:pic>
      <p:sp>
        <p:nvSpPr>
          <p:cNvPr id="4" name="Section label"/>
          <p:cNvSpPr txBox="1"/>
          <p:nvPr/>
        </p:nvSpPr>
        <p:spPr>
          <a:xfrm>
            <a:off x="6191250" y="1143000"/>
            <a:ext cx="4391025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2 · РЕЗУЛЬТАТ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1250" y="144780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0" y="1619250"/>
            <a:ext cx="4476750" cy="1181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Результат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0" y="3009900"/>
            <a:ext cx="4476750" cy="2000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ООП: StringStack — свой стек; BrowserHistory хранит два стека и текущую страницу.
На экране: переходы и шаги назад / вперёд работают верно; после нового перехода «вперёд» идти некуда.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2 · ПРОСТЫМИ СЛОВАМИ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Что делает программа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Стек — это стопка: кладём наверх и берём сверху (как стопку тарелок). Программа изображает кнопки браузера «Назад» и «Вперёд»: есть текущая страница и две стопки — одна для перехода назад, другая вперёд.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По шагам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9125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1. Visit — заходим на новую страницу: старую кладём в «Назад», «Вперёд» очищаем.
2. Backward — берём из «Назад», текущую кладём в «Вперёд».
3. Forward — наоборот, берём из «Вперёд».
4. После нового перехода «Вперёд» идти уже некуда.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2 · ТЕСТЫ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Тестирование: стеки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C2C2B"/>
                </a:solidFill>
                <a:latin typeface="Arial"/>
              </a:rPr>
              <a:t>Проверены переходы, возвраты и сброс истории «вперёд».</a:t>
            </a:r>
          </a:p>
        </p:txBody>
      </p:sp>
      <p:graphicFrame>
        <p:nvGraphicFramePr>
          <p:cNvPr id="6" name="Evidence table"/>
          <p:cNvGraphicFramePr>
            <a:graphicFrameLocks noGrp="1"/>
          </p:cNvGraphicFramePr>
          <p:nvPr/>
        </p:nvGraphicFramePr>
        <p:xfrm>
          <a:off x="685800" y="2667000"/>
          <a:ext cx="108204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6800"/>
                <a:gridCol w="3606800"/>
                <a:gridCol w="36068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Действие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Ожидалось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Результат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Visit ×3 (… → github)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текущая: github.com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Backward(1)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notion.so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Backward(2)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Homepage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Forward(1)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google.com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Visit wiki + Forward(1)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wikipedia (некуда)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1123950"/>
            <a:ext cx="4762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647950"/>
            <a:ext cx="18097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9750"/>
              </a:lnSpc>
              <a:spcBef>
                <a:spcPts val="0"/>
              </a:spcBef>
              <a:spcAft>
                <a:spcPts val="0"/>
              </a:spcAft>
            </a:pPr>
            <a:r>
              <a:rPr sz="97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24150" y="2857500"/>
            <a:ext cx="8191500" cy="1714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049"/>
              </a:lnSpc>
              <a:spcBef>
                <a:spcPts val="0"/>
              </a:spcBef>
              <a:spcAft>
                <a:spcPts val="0"/>
              </a:spcAft>
            </a:pPr>
            <a:r>
              <a:rPr sz="4950" b="1" i="0" u="none">
                <a:solidFill>
                  <a:srgbClr val="2C2C2B"/>
                </a:solidFill>
                <a:latin typeface="Arial"/>
              </a:rPr>
              <a:t>Бинарные деревья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24150" y="4629150"/>
            <a:ext cx="7239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7D7A75"/>
                </a:solidFill>
                <a:latin typeface="Arial"/>
              </a:rPr>
              <a:t>Вариант №4 · диаметр дерева (наибольшее число рёбер)</a:t>
            </a:r>
          </a:p>
        </p:txBody>
      </p:sp>
    </p:spTree>
  </p:cSld>
  <p:clrMapOvr>
    <a:masterClrMapping/>
  </p:clrMapOvr>
  <p:transition spd="med">
    <p:push dir="l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3 · УСЛОВИЕ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Условие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81250"/>
            <a:ext cx="4953000" cy="1809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131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2C2C2B"/>
                </a:solidFill>
                <a:latin typeface="Arial"/>
              </a:rPr>
              <a:t>Найти диаметр бинарного дерева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053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>Диаметр — путь с наибольшим числом рёбер.</a:t>
            </a:r>
          </a:p>
        </p:txBody>
      </p:sp>
      <p:sp>
        <p:nvSpPr>
          <p:cNvPr id="7" name="Section label"/>
          <p:cNvSpPr txBox="1"/>
          <p:nvPr/>
        </p:nvSpPr>
        <p:spPr>
          <a:xfrm>
            <a:off x="6191250" y="23812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ДАНО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26289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Бинарное дерево, построенное из случайных чисел.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1250" y="32385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0" name="Section label"/>
          <p:cNvSpPr txBox="1"/>
          <p:nvPr/>
        </p:nvSpPr>
        <p:spPr>
          <a:xfrm>
            <a:off x="6191250" y="33718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НАЙТИ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36195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Диаметр — наибольшее число рёбер в пути между двумя вершинами.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91250" y="42291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3" name="Section label"/>
          <p:cNvSpPr txBox="1"/>
          <p:nvPr/>
        </p:nvSpPr>
        <p:spPr>
          <a:xfrm>
            <a:off x="6191250" y="43624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ПРИМЕР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46101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Для дерева из методички диаметр равен 4 рёбрам.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3 · КЛЮЧЕВОЙ КОД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C2C2B"/>
                </a:solidFill>
                <a:latin typeface="Arial"/>
              </a:rPr>
              <a:t>Высота + диаметр за один проход</a:t>
            </a:r>
          </a:p>
        </p:txBody>
      </p:sp>
      <p:sp>
        <p:nvSpPr>
          <p:cNvPr id="5" name="Media frame"/>
          <p:cNvSpPr/>
          <p:nvPr/>
        </p:nvSpPr>
        <p:spPr>
          <a:xfrm>
            <a:off x="685800" y="2247900"/>
            <a:ext cx="5829300" cy="3943350"/>
          </a:xfrm>
          <a:prstGeom prst="roundRect">
            <a:avLst>
              <a:gd name="adj" fmla="val 289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Media image" descr="code_derev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159" y="2247900"/>
            <a:ext cx="4810580" cy="3943350"/>
          </a:xfrm>
          <a:prstGeom prst="roundRect">
            <a:avLst>
              <a:gd name="adj" fmla="val 2898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6896100" y="2286000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0449" y="226695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height()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0449" y="257175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Рекурсивно считает высоту левого и правого поддеревьев.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96100" y="351154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96100" y="362584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10449" y="360680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Путь через узел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0449" y="391160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Сумма левой и правой высот — путь через текущий узел.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96100" y="485139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896100" y="496569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10449" y="4946649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Диаметр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0449" y="5251449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Максимум таких сумм за один проход, O(n).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dia frame"/>
          <p:cNvSpPr/>
          <p:nvPr/>
        </p:nvSpPr>
        <p:spPr>
          <a:xfrm>
            <a:off x="685800" y="1143000"/>
            <a:ext cx="4457700" cy="3771900"/>
          </a:xfrm>
          <a:prstGeom prst="roundRect">
            <a:avLst>
              <a:gd name="adj" fmla="val 3030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ory image" descr="derev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3851"/>
            <a:ext cx="4457700" cy="1390197"/>
          </a:xfrm>
          <a:prstGeom prst="roundRect">
            <a:avLst>
              <a:gd name="adj" fmla="val 8221"/>
            </a:avLst>
          </a:prstGeom>
        </p:spPr>
      </p:pic>
      <p:sp>
        <p:nvSpPr>
          <p:cNvPr id="4" name="Section label"/>
          <p:cNvSpPr txBox="1"/>
          <p:nvPr/>
        </p:nvSpPr>
        <p:spPr>
          <a:xfrm>
            <a:off x="6191250" y="1143000"/>
            <a:ext cx="4391025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3 · РЕЗУЛЬТАТ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1250" y="144780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0" y="1619250"/>
            <a:ext cx="4476750" cy="1181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Результат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0" y="3009900"/>
            <a:ext cx="4476750" cy="2000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ООП: BinaryTree со вставкой, как в дереве поиска.
На экране: дерево из 10 чисел, диаметр = 7 рёбер.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3 · ПРОСТЫМИ СЛОВАМИ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Что делает программа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Дерево — это числа, связанные как ветки: у каждого узла есть левый и правый потомок. Диаметр — самая длинная дорожка между двумя узлами; считаем её в рёбрах (связях между узлами).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По шагам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9125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1. Для каждого узла считаем высоту левой и правой ветки.
2. Их сумма — длина дорожки через этот узел.
3. Запоминаем самую большую такую сумму по всему дереву.
4. Всё за один проход, поэтому быстро.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3 · ТЕСТЫ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Тестирование: деревья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C2C2B"/>
                </a:solidFill>
                <a:latin typeface="Arial"/>
              </a:rPr>
              <a:t>Проверены цепочка, сбалансированное дерево и один узел.</a:t>
            </a:r>
          </a:p>
        </p:txBody>
      </p:sp>
      <p:graphicFrame>
        <p:nvGraphicFramePr>
          <p:cNvPr id="6" name="Evidence table"/>
          <p:cNvGraphicFramePr>
            <a:graphicFrameLocks noGrp="1"/>
          </p:cNvGraphicFramePr>
          <p:nvPr/>
        </p:nvGraphicFramePr>
        <p:xfrm>
          <a:off x="685800" y="2667000"/>
          <a:ext cx="108204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6800"/>
                <a:gridCol w="3606800"/>
                <a:gridCol w="360680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Вставка узлов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Ожидалось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Результат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5 3 8 2 4 7 9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1 2 3 4 5 (цепочка)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50 30 70 20 40 60 80 10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10 (один узел)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1123950"/>
            <a:ext cx="4762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647950"/>
            <a:ext cx="18097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9750"/>
              </a:lnSpc>
              <a:spcBef>
                <a:spcPts val="0"/>
              </a:spcBef>
              <a:spcAft>
                <a:spcPts val="0"/>
              </a:spcAft>
            </a:pPr>
            <a:r>
              <a:rPr sz="9750" b="1" i="0" u="none">
                <a:solidFill>
                  <a:srgbClr val="2783DE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24150" y="2857500"/>
            <a:ext cx="8191500" cy="1714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049"/>
              </a:lnSpc>
              <a:spcBef>
                <a:spcPts val="0"/>
              </a:spcBef>
              <a:spcAft>
                <a:spcPts val="0"/>
              </a:spcAft>
            </a:pPr>
            <a:r>
              <a:rPr sz="4950" b="1" i="0" u="none">
                <a:solidFill>
                  <a:srgbClr val="2C2C2B"/>
                </a:solidFill>
                <a:latin typeface="Arial"/>
              </a:rPr>
              <a:t>Бинарный поиск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24150" y="4629150"/>
            <a:ext cx="7239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7D7A75"/>
                </a:solidFill>
                <a:latin typeface="Arial"/>
              </a:rPr>
              <a:t>Вариант №6 · минимальная ширина строки для переноса</a:t>
            </a:r>
          </a:p>
        </p:txBody>
      </p:sp>
    </p:spTree>
  </p:cSld>
  <p:clrMapOvr>
    <a:masterClrMapping/>
  </p:clrMapOvr>
  <p:transition spd="med">
    <p:push dir="l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4 · УСЛОВИЕ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Условие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81250"/>
            <a:ext cx="4953000" cy="1809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131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2C2C2B"/>
                </a:solidFill>
                <a:latin typeface="Arial"/>
              </a:rPr>
              <a:t>Найти минимальную ширину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053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>Слова читаются из файла; слова не разрываются.</a:t>
            </a:r>
          </a:p>
        </p:txBody>
      </p:sp>
      <p:sp>
        <p:nvSpPr>
          <p:cNvPr id="7" name="Section label"/>
          <p:cNvSpPr txBox="1"/>
          <p:nvPr/>
        </p:nvSpPr>
        <p:spPr>
          <a:xfrm>
            <a:off x="6191250" y="23812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ДАНО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26289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Список слов из файла и число X — максимум строк.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1250" y="32385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0" name="Section label"/>
          <p:cNvSpPr txBox="1"/>
          <p:nvPr/>
        </p:nvSpPr>
        <p:spPr>
          <a:xfrm>
            <a:off x="6191250" y="33718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НАЙТИ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36195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Минимальную ширину строки, при которой текст умещается в ≤ X строк.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91250" y="42291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3" name="Section label"/>
          <p:cNvSpPr txBox="1"/>
          <p:nvPr/>
        </p:nvSpPr>
        <p:spPr>
          <a:xfrm>
            <a:off x="6191250" y="43624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МЕТОД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46101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Бинарный поиск по ширине: проверяем, влезает ли текст.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4 · КЛЮЧЕВОЙ КОД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C2C2B"/>
                </a:solidFill>
                <a:latin typeface="Arial"/>
              </a:rPr>
              <a:t>Бинарный поиск по ширине</a:t>
            </a:r>
          </a:p>
        </p:txBody>
      </p:sp>
      <p:sp>
        <p:nvSpPr>
          <p:cNvPr id="5" name="Media frame"/>
          <p:cNvSpPr/>
          <p:nvPr/>
        </p:nvSpPr>
        <p:spPr>
          <a:xfrm>
            <a:off x="685800" y="2247900"/>
            <a:ext cx="5829300" cy="3943350"/>
          </a:xfrm>
          <a:prstGeom prst="roundRect">
            <a:avLst>
              <a:gd name="adj" fmla="val 289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Media image" descr="code_po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665" y="2247900"/>
            <a:ext cx="4195569" cy="3943350"/>
          </a:xfrm>
          <a:prstGeom prst="roundRect">
            <a:avLst>
              <a:gd name="adj" fmla="val 2898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6896100" y="2286000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0449" y="226695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Границы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0449" y="257175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low — самое длинное слово, high — все слова в одну строку.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96100" y="351154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96100" y="362584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10449" y="360680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Проверка середины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0449" y="3911600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Влезает в ≤ X строк → уменьшаем ширину, иначе → увеличиваем.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96100" y="4851399"/>
            <a:ext cx="46101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896100" y="4965699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91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10449" y="4946649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Ответ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0449" y="5251449"/>
            <a:ext cx="4095750" cy="844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Минимальная ширина, при которой текст ещё умещается.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dia frame"/>
          <p:cNvSpPr/>
          <p:nvPr/>
        </p:nvSpPr>
        <p:spPr>
          <a:xfrm>
            <a:off x="685800" y="1143000"/>
            <a:ext cx="4457700" cy="3771900"/>
          </a:xfrm>
          <a:prstGeom prst="roundRect">
            <a:avLst>
              <a:gd name="adj" fmla="val 3030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ory image" descr="po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1255"/>
            <a:ext cx="4457700" cy="2815389"/>
          </a:xfrm>
          <a:prstGeom prst="roundRect">
            <a:avLst>
              <a:gd name="adj" fmla="val 4059"/>
            </a:avLst>
          </a:prstGeom>
        </p:spPr>
      </p:pic>
      <p:sp>
        <p:nvSpPr>
          <p:cNvPr id="4" name="Section label"/>
          <p:cNvSpPr txBox="1"/>
          <p:nvPr/>
        </p:nvSpPr>
        <p:spPr>
          <a:xfrm>
            <a:off x="6191250" y="1143000"/>
            <a:ext cx="4391025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4 · РЕЗУЛЬТАТ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1250" y="144780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0" y="1619250"/>
            <a:ext cx="4476750" cy="1181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Результат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0" y="3009900"/>
            <a:ext cx="4476750" cy="2000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ООП: WordList (динамический массив) и TextWrap.
На экране: X = 3 → ширина 22, текст разбит на 3 строки.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4 · ПРОСТЫМИ СЛОВАМИ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Что делает программа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Есть набор слов, их нужно разложить по строкам заданной ширины (слова не разрываются). Задаём, сколько строк максимум можно занять (число X). Ищем самую маленькую ширину, при которой текст ещё влезает в X строк.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По шагам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9125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1. Перебирать все ширины подряд долго — берём бинарный поиск.
2. Пробуем среднюю ширину: влезает текст в X строк или нет.
3. Влезает — пробуем ширину поменьше.
4. Не влезает — берём побольше.
5. Так быстро находим минимальную ширину.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ЗАДАНИЕ 4 · ТЕСТЫ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Тестирование: бинарный поиск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C2C2B"/>
                </a:solidFill>
                <a:latin typeface="Arial"/>
              </a:rPr>
              <a:t>При росте X минимальная ширина монотонно падает — как и ожидалось.</a:t>
            </a:r>
          </a:p>
        </p:txBody>
      </p:sp>
      <p:graphicFrame>
        <p:nvGraphicFramePr>
          <p:cNvPr id="6" name="Evidence table"/>
          <p:cNvGraphicFramePr>
            <a:graphicFrameLocks noGrp="1"/>
          </p:cNvGraphicFramePr>
          <p:nvPr/>
        </p:nvGraphicFramePr>
        <p:xfrm>
          <a:off x="685800" y="2667000"/>
          <a:ext cx="108204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6800"/>
                <a:gridCol w="3606800"/>
                <a:gridCol w="36068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X (макс. строк)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Мин. ширина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Результат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ПРОБЛЕМЫ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С чем были проблемы и как решили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Проблемы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• Списки: указатели могли «перескочить» друг друга.
• Стеки: не сбрасывалась история «вперёд».
• Деревья: наивный подсчёт диаметра работал медленно.
• Поиск: путались границы бинарного поиска.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Как решили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9125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• Добавили условие left != right и left-&gt;prev != right.
• Очищаем стек «вперёд» внутри метода Visit.
• Переписали на один проход O(n): высота + максимум по ссылке.
• Проверили крайние X (1 строка и много строк).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ИТОГИ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Итоги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431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3241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u="none">
                <a:solidFill>
                  <a:srgbClr val="2C2C2B"/>
                </a:solidFill>
                <a:latin typeface="Arial"/>
              </a:rPr>
              <a:t>Все четыре программы работают и протестированы на разных данных.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32385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35433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5242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</a:rPr>
              <a:t>Везде применён ООП-подход: под каждую структуру данных — свой класс.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44386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5800" y="47434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7244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</a:rPr>
              <a:t>Код собирается в Visual Studio 2022 (стандарт C++17).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Notion Artifact Export</Application>
  <PresentationFormat>On-screen Show (16:9)</PresentationFormat>
  <Paragraphs>0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  <DocSecurity>0</DocSecurit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Otchet Vasilevich 1-4</dc:title>
  <dc:subject/>
  <dc:creator>Notion AI</dc:creator>
  <cp:keywords/>
  <dc:description>generated using python-pptx</dc:description>
  <cp:lastModifiedBy>Notion AI</cp:lastModifiedBy>
  <cp:revision>1</cp:revision>
  <dcterms:created xsi:type="dcterms:W3CDTF">2026-07-05T18:05:03Z</dcterms:created>
  <dcterms:modified xsi:type="dcterms:W3CDTF">2026-07-05T18:05:03Z</dcterms:modified>
  <cp:category/>
</cp:coreProperties>
</file>